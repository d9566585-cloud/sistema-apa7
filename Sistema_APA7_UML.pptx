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0"/>
            <a:ext cx="12188952" cy="2377440"/>
          </a:xfrm>
          <a:prstGeom prst="rect">
            <a:avLst/>
          </a:prstGeom>
          <a:solidFill>
            <a:srgbClr val="3A6EA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Automatizado para la Normalización</a:t>
            </a:r>
            <a:endParaRPr lang="en-US" sz="3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Documentos Académicos bajo Estándares APA 7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1036015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Martinez Giraldo
</a:t>
            </a:r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Materia: Ingeniería de Software
</a:t>
            </a:r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Feibert Alirio Guzmán Pérez
</a:t>
            </a:r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Corporación Universitaria Lasallista
</a:t>
            </a:r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Caldas – Antioquia | 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del Sistema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64465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Martinez Giraldo | Ingeniería de Software | 2/9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Identificado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estudiantes cometen errores frecuentes al aplicar normas APA 7: formato, interlineado, citas y referencias.
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revisión manual por parte de docentes consume tiempo excesivo.
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existen herramientas integrales de normalización APA adaptadas al contexto universitario colombiano.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Propuesta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0" y="173736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un sistema web automatizado que recibe documentos Word (.docx).
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estructura, formato, citas y referencias.
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automáticamente una versión normalizada bajo APA 7.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572000"/>
            <a:ext cx="11064240" cy="1463040"/>
          </a:xfrm>
          <a:prstGeom prst="rect">
            <a:avLst>
              <a:gd name="adj" fmla="val 9375"/>
            </a:avLst>
          </a:prstGeom>
          <a:solidFill>
            <a:srgbClr val="F0F4F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Sistema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 sistema automatizado que normalice documentos académicos en formato Word según APA 7, aplicando automáticamente lineamientos de formato, citación y referencias bibliográficas.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Actores del Sistema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64465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Martinez Giraldo | Ingeniería de Software | 3/9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474720" cy="4114800"/>
          </a:xfrm>
          <a:prstGeom prst="rect">
            <a:avLst>
              <a:gd name="adj" fmla="val 3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0C0C0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00200" y="1645920"/>
            <a:ext cx="1371600" cy="1371600"/>
          </a:xfrm>
          <a:prstGeom prst="ellipse">
            <a:avLst/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1600200" y="173736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👨‍🎓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374904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principal. Carga documentos académicos en formato Word para su análisis y normalización bajo APA 7. Descarga el documento corregido.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1371600"/>
            <a:ext cx="3474720" cy="4114800"/>
          </a:xfrm>
          <a:prstGeom prst="rect">
            <a:avLst>
              <a:gd name="adj" fmla="val 3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0C0C0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49240" y="1645920"/>
            <a:ext cx="1371600" cy="1371600"/>
          </a:xfrm>
          <a:prstGeom prst="ellipse">
            <a:avLst/>
          </a:prstGeom>
          <a:solidFill>
            <a:srgbClr val="FEF3E8"/>
          </a:solidFill>
          <a:ln/>
        </p:spPr>
      </p:sp>
      <p:sp>
        <p:nvSpPr>
          <p:cNvPr id="12" name="Text 10"/>
          <p:cNvSpPr/>
          <p:nvPr/>
        </p:nvSpPr>
        <p:spPr>
          <a:xfrm>
            <a:off x="5349240" y="173736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👨‍🏫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572000" y="3200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0" y="374904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 el sistema para revisar y verificar el cumplimiento de normas APA en los trabajos de sus estudiantes. Genera reportes de corrección.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46720" y="1371600"/>
            <a:ext cx="3474720" cy="4114800"/>
          </a:xfrm>
          <a:prstGeom prst="rect">
            <a:avLst>
              <a:gd name="adj" fmla="val 3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0C0C0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098280" y="1645920"/>
            <a:ext cx="1371600" cy="1371600"/>
          </a:xfrm>
          <a:prstGeom prst="ellipse">
            <a:avLst/>
          </a:prstGeom>
          <a:solidFill>
            <a:srgbClr val="E8FEF0"/>
          </a:solidFill>
          <a:ln/>
        </p:spPr>
      </p:sp>
      <p:sp>
        <p:nvSpPr>
          <p:cNvPr id="17" name="Text 15"/>
          <p:cNvSpPr/>
          <p:nvPr/>
        </p:nvSpPr>
        <p:spPr>
          <a:xfrm>
            <a:off x="9098280" y="173736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⚙️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321040" y="3200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321040" y="374904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la configuración del sistema, administra usuarios, perfiles y parámetros de normalización. Accede a informes y estadísticas.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Casos de Uso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64465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Martinez Giraldo | Ingeniería de Software | 4/9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146304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8288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3474720"/>
            <a:ext cx="146304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34747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5029200"/>
            <a:ext cx="146304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50292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0" y="1188720"/>
            <a:ext cx="6858000" cy="5029200"/>
          </a:xfrm>
          <a:prstGeom prst="rect">
            <a:avLst>
              <a:gd name="adj" fmla="val 3636"/>
            </a:avLst>
          </a:prstGeom>
          <a:solidFill>
            <a:srgbClr val="F8FAFC"/>
          </a:solidFill>
          <a:ln w="25400">
            <a:solidFill>
              <a:srgbClr val="1E2761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2560320" y="12344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«Sistema APA 7»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926080" y="1737360"/>
            <a:ext cx="3108960" cy="68580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0" y="173736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documento (.docx)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26080" y="2606040"/>
            <a:ext cx="3108960" cy="68580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0" y="260604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estructura del documento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26080" y="3474720"/>
            <a:ext cx="3108960" cy="68580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0" y="34747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Normalizar formato (fuente, márgenes, interlineado)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26080" y="4343400"/>
            <a:ext cx="3108960" cy="68580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0" y="43434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Normalizar títulos y subtítulos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926080" y="5212080"/>
            <a:ext cx="3108960" cy="68580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0" y="52120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citas textuales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09360" y="1737360"/>
            <a:ext cx="3108960" cy="68580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173736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Normalizar referencias bibliográficas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09360" y="2606040"/>
            <a:ext cx="3108960" cy="68580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260604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reporte de correcciones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09360" y="3474720"/>
            <a:ext cx="3108960" cy="68580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34747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 documento normalizado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09360" y="4343400"/>
            <a:ext cx="3108960" cy="685800"/>
          </a:xfrm>
          <a:prstGeom prst="ellipse">
            <a:avLst/>
          </a:prstGeom>
          <a:solidFill>
            <a:srgbClr val="E8FEF0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43434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usuarios y perfiles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09360" y="5212080"/>
            <a:ext cx="3108960" cy="685800"/>
          </a:xfrm>
          <a:prstGeom prst="ellipse">
            <a:avLst/>
          </a:prstGeom>
          <a:solidFill>
            <a:srgbClr val="E8FEF0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52120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estadísticas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692640" y="1371600"/>
            <a:ext cx="2286000" cy="3200400"/>
          </a:xfrm>
          <a:prstGeom prst="rect">
            <a:avLst>
              <a:gd name="adj" fmla="val 4000"/>
            </a:avLst>
          </a:prstGeom>
          <a:solidFill>
            <a:srgbClr val="F0F4FA"/>
          </a:solidFill>
          <a:ln/>
        </p:spPr>
      </p:sp>
      <p:sp>
        <p:nvSpPr>
          <p:cNvPr id="34" name="Text 32"/>
          <p:cNvSpPr/>
          <p:nvPr/>
        </p:nvSpPr>
        <p:spPr>
          <a:xfrm>
            <a:off x="9875520" y="14630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Relaciones: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875520" y="1920240"/>
            <a:ext cx="19202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Estudiante: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Cargar, Analizar, Descargar
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Docente: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Cargar, Analizar, Reportes, Descargar
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Administrador: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usuarios, Estadísticas, Config.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Explicación del Diagrama de Casos de Uso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64465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Martinez Giraldo | Ingeniería de Software | 5/9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1371600"/>
          </a:xfrm>
          <a:prstGeom prst="rect">
            <a:avLst>
              <a:gd name="adj" fmla="val 10000"/>
            </a:avLst>
          </a:prstGeom>
          <a:solidFill>
            <a:srgbClr val="E8F0F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un documento Word → El sistema analiza la estructura → Aplica normalización APA 7 → El estudiante descarga el documento corregido.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11064240" cy="1371600"/>
          </a:xfrm>
          <a:prstGeom prst="rect">
            <a:avLst>
              <a:gd name="adj" fmla="val 10000"/>
            </a:avLst>
          </a:prstGeom>
          <a:solidFill>
            <a:srgbClr val="FEF3E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017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documentos de estudiantes → Solicita análisis y normalización → Consulta reportes de correcciones → Verifica cumplimiento de normas APA.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572000"/>
            <a:ext cx="11064240" cy="1371600"/>
          </a:xfrm>
          <a:prstGeom prst="rect">
            <a:avLst>
              <a:gd name="adj" fmla="val 10000"/>
            </a:avLst>
          </a:prstGeom>
          <a:solidFill>
            <a:srgbClr val="E8FEF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663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5120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usuarios y perfiles del sistema → Configura parámetros de normalización → Consulta estadísticas de uso → Administra informes generales.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5486400"/>
            <a:ext cx="11064240" cy="731520"/>
          </a:xfrm>
          <a:prstGeom prst="rect">
            <a:avLst>
              <a:gd name="adj" fmla="val 12500"/>
            </a:avLst>
          </a:prstGeom>
          <a:solidFill>
            <a:srgbClr val="F0F4F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532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actúa como intermediario automatizado: recibe el documento, aplica reglas APA 7 y devuelve el resultado normalizado con un reporte detallado.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Clases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64465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Martinez Giraldo | Ingeniería de Software | 6/9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46888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80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24688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3A6E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002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id: int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nombre: String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email: String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contraseña: String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rol: String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2468880" cy="502920"/>
          </a:xfrm>
          <a:prstGeom prst="rect">
            <a:avLst/>
          </a:prstGeom>
          <a:solidFill>
            <a:srgbClr val="F0F4FA"/>
          </a:solidFill>
          <a:ln w="6350">
            <a:solidFill>
              <a:srgbClr val="3A6E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3774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A6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registrar()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A6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autenticar()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A6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actualizarPerfil()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08960" y="1280160"/>
            <a:ext cx="246888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108960" y="1280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08960" y="1600200"/>
            <a:ext cx="24688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3A6E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16002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id: int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nombre: String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fechaCarga: Date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formatoOriginal: String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estado: String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108960" y="2377440"/>
            <a:ext cx="2468880" cy="502920"/>
          </a:xfrm>
          <a:prstGeom prst="rect">
            <a:avLst/>
          </a:prstGeom>
          <a:solidFill>
            <a:srgbClr val="F0F4FA"/>
          </a:solidFill>
          <a:ln w="6350">
            <a:solidFill>
              <a:srgbClr val="3A6E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23774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A6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cargar()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A6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analizar()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A6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descargar()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852160" y="1280160"/>
            <a:ext cx="246888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852160" y="1280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AnalizadorAPA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52160" y="1600200"/>
            <a:ext cx="2468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3A6E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97880" y="1600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reglasAPA: List&lt;Regla&gt;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version: String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852160" y="1965960"/>
            <a:ext cx="2468880" cy="640080"/>
          </a:xfrm>
          <a:prstGeom prst="rect">
            <a:avLst/>
          </a:prstGeom>
          <a:solidFill>
            <a:srgbClr val="F0F4FA"/>
          </a:solidFill>
          <a:ln w="6350">
            <a:solidFill>
              <a:srgbClr val="3A6E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19659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A6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analizarEstructura()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A6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verificarFormato()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A6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verificarCitas()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A6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verificarReferencias()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595360" y="1280160"/>
            <a:ext cx="246888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8595360" y="1280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Normalizador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595360" y="1600200"/>
            <a:ext cx="2468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3A6E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41080" y="1600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configuracion: Config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reglaActiva: Regla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595360" y="1965960"/>
            <a:ext cx="2468880" cy="777240"/>
          </a:xfrm>
          <a:prstGeom prst="rect">
            <a:avLst/>
          </a:prstGeom>
          <a:solidFill>
            <a:srgbClr val="F0F4FA"/>
          </a:solidFill>
          <a:ln w="6350">
            <a:solidFill>
              <a:srgbClr val="3A6E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41080" y="19659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A6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aplicarFormato()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A6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normalizarTitulos()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A6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normalizarCitas()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A6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normalizarReferencias()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A6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generarDocumento()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737360" y="4023360"/>
            <a:ext cx="246888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1737360" y="40233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ReporteCorrecciones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737360" y="4343400"/>
            <a:ext cx="24688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3A6EA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83080" y="43434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id: int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fecha: Date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totalErrores: int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detalleErrores: List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737360" y="4983480"/>
            <a:ext cx="2468880" cy="502920"/>
          </a:xfrm>
          <a:prstGeom prst="rect">
            <a:avLst/>
          </a:prstGeom>
          <a:solidFill>
            <a:srgbClr val="F0F4FA"/>
          </a:solidFill>
          <a:ln w="6350">
            <a:solidFill>
              <a:srgbClr val="3A6EA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83080" y="49834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A6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generar()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A6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exportarPDF()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A6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consultarDetalle()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937760" y="4023360"/>
            <a:ext cx="246888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4937760" y="40233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ReglaAPA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937760" y="4343400"/>
            <a:ext cx="24688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3A6EA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83480" y="43434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id: int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categoria: String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descripcion: String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valorEsperado: String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937760" y="4983480"/>
            <a:ext cx="2468880" cy="365760"/>
          </a:xfrm>
          <a:prstGeom prst="rect">
            <a:avLst/>
          </a:prstGeom>
          <a:solidFill>
            <a:srgbClr val="F0F4FA"/>
          </a:solidFill>
          <a:ln w="6350">
            <a:solidFill>
              <a:srgbClr val="3A6EA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83480" y="4983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A6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validar()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A6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obtenerMensaje()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8138160" y="4023360"/>
            <a:ext cx="246888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2" name="Text 40"/>
          <p:cNvSpPr/>
          <p:nvPr/>
        </p:nvSpPr>
        <p:spPr>
          <a:xfrm>
            <a:off x="8138160" y="40233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Configuracion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138160" y="4343400"/>
            <a:ext cx="24688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3A6EA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83880" y="43434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margen: float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fuente: String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interlineado: float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nivelTitulos: int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8138160" y="4983480"/>
            <a:ext cx="2468880" cy="365760"/>
          </a:xfrm>
          <a:prstGeom prst="rect">
            <a:avLst/>
          </a:prstGeom>
          <a:solidFill>
            <a:srgbClr val="F0F4FA"/>
          </a:solidFill>
          <a:ln w="6350">
            <a:solidFill>
              <a:srgbClr val="3A6EA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83880" y="4983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A6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cargarDefecto()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A6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personalizar()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 entre Clases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64465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Martinez Giraldo | Ingeniería de Software | 7/9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64240" cy="640080"/>
          </a:xfrm>
          <a:prstGeom prst="rect">
            <a:avLst>
              <a:gd name="adj" fmla="val 14286"/>
            </a:avLst>
          </a:prstGeom>
          <a:solidFill>
            <a:srgbClr val="F0F4F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716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(1) ────── (*) Documento: Un usuario puede cargar múltiples documentos.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1106424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945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(1) ────── (1) AnalizadorAPA: Cada documento es procesado por el analizador.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11064240" cy="640080"/>
          </a:xfrm>
          <a:prstGeom prst="rect">
            <a:avLst>
              <a:gd name="adj" fmla="val 14286"/>
            </a:avLst>
          </a:prstGeom>
          <a:solidFill>
            <a:srgbClr val="F0F4F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017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AnalizadorAPA (1) ────── (*) ReglaAPA: El analizador aplica múltiples reglas de validación.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1106424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840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(1) ────── (1) Normalizador: El normalizador genera la versión corregida del documento.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663440"/>
            <a:ext cx="11064240" cy="640080"/>
          </a:xfrm>
          <a:prstGeom prst="rect">
            <a:avLst>
              <a:gd name="adj" fmla="val 14286"/>
            </a:avLst>
          </a:prstGeom>
          <a:solidFill>
            <a:srgbClr val="F0F4F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663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Normalizador (1) ────── (1) Configuracion: El normalizador usa una configuración APA específica.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486400"/>
            <a:ext cx="1106424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4864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(1) ────── (1) ReporteCorrecciones: Cada documento genera un reporte de errores encontrados.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577840"/>
            <a:ext cx="11064240" cy="640080"/>
          </a:xfrm>
          <a:prstGeom prst="rect">
            <a:avLst>
              <a:gd name="adj" fmla="val 14286"/>
            </a:avLst>
          </a:prstGeom>
          <a:solidFill>
            <a:srgbClr val="E8F0FE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5778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de diseño: El sistema sigue una arquitectura modular donde el Analizador y el Normalizador trabajan de forma independiente, permitiendo escalabilidad y mantenibilidad.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64465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Martinez Giraldo | Ingeniería de Software | 8/9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25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2801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automatizado resuelve una problemática real en el ámbito universitario, reduciendo significativamente los errores de formato APA 7 en documentos académicos.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31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22860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arquitectura modular del sistema permite analizar y normalizar de forma independiente cada aspecto del documento: formato, títulos, citas y referencias bibliográficas.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337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54480" y="32918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implementación de una plataforma web garantiza accesibilidad multiplataforma (Windows, macOS, Linux), facilitando su adopción por estudiantes y docentes.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343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54480" y="42976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optimiza el tiempo de docentes al automatizar la revisión de aspectos formales, permitiéndoles enfocarse en la evaluación del contenido académico.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3492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349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53035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sienta las bases para futuras mejoras como la detección de plagio, la integración con repositorios académicos y el soporte de normas adicionales (IEEE, Vancouver).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88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Automatizado para la Normalización de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Académicos bajo Estándares APA 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Martinez Giraldo | Ingeniería de Software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Corporación Universitaria Lasallista | 2026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2026-04-15T16:39:37Z</dcterms:created>
  <dcterms:modified xsi:type="dcterms:W3CDTF">2026-04-15T16:39:37Z</dcterms:modified>
</cp:coreProperties>
</file>